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3018" y="60"/>
      </p:cViewPr>
      <p:guideLst>
        <p:guide orient="horz" pos="3119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4.png"/><Relationship Id="rId6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2.png"/><Relationship Id="rId17" Type="http://schemas.openxmlformats.org/officeDocument/2006/relationships/image" Target="../media/image11.png"/><Relationship Id="rId16" Type="http://schemas.openxmlformats.org/officeDocument/2006/relationships/image" Target="../media/image10.png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/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1755" y="2356485"/>
          <a:ext cx="3890645" cy="2155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645"/>
              </a:tblGrid>
              <a:tr h="36703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1788795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027805" y="2360295"/>
          <a:ext cx="2789555" cy="173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555"/>
              </a:tblGrid>
              <a:tr h="243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4960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0" name="Group 69"/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/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/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  <a:endParaRPr lang="en-US" sz="1000" b="1">
                  <a:solidFill>
                    <a:schemeClr val="bg1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  <a:endParaRPr lang="en-US" sz="1000" b="1">
                  <a:solidFill>
                    <a:schemeClr val="bg1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/>
              <p:cNvSpPr txBox="1"/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</a:t>
                </a:r>
                <a:r>
                  <a:rPr lang="vi-VN" alt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HỆ THỐNG CHẤM CÔNG </a:t>
                </a:r>
                <a:r>
                  <a:rPr lang="en-US" alt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V</a:t>
                </a:r>
                <a:r>
                  <a:rPr lang="en-US" alt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À</a:t>
                </a:r>
                <a:r>
                  <a:rPr lang="vi-VN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vi-VN" alt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TÍNH </a:t>
                </a:r>
                <a:r>
                  <a:rPr lang="vi-VN" alt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LƯƠNG</a:t>
                </a:r>
                <a:endParaRPr lang="vi-VN" altLang="en-US" sz="1200" b="1" dirty="0" err="1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vi-VN" altLang="en-US" sz="800" b="1" dirty="0"/>
                  <a:t>Nguyễn Chí Nhật, Phạm Văn Duy, Đỗ Trọng Minh </a:t>
                </a:r>
                <a:r>
                  <a:rPr lang="vi-VN" altLang="en-US" sz="800" b="1" dirty="0"/>
                  <a:t>Tiến</a:t>
                </a:r>
                <a:endParaRPr lang="vi-VN" altLang="en-US" sz="800" b="1" dirty="0"/>
              </a:p>
            </p:txBody>
          </p:sp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4027805" y="4169410"/>
          <a:ext cx="2789555" cy="1986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555"/>
              </a:tblGrid>
              <a:tr h="26416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1722755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2" name="Picture 7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7304" y="4490261"/>
            <a:ext cx="2378325" cy="1608543"/>
          </a:xfrm>
          <a:prstGeom prst="rect">
            <a:avLst/>
          </a:prstGeom>
        </p:spPr>
      </p:pic>
      <p:graphicFrame>
        <p:nvGraphicFramePr>
          <p:cNvPr id="82" name="Table 81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72390" y="4559300"/>
          <a:ext cx="3890645" cy="5283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645"/>
              </a:tblGrid>
              <a:tr h="24701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503682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4027805" y="6205220"/>
          <a:ext cx="2789555" cy="142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555"/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184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custDataLst>
              <p:tags r:id="rId10"/>
            </p:custDataLst>
          </p:nvPr>
        </p:nvGraphicFramePr>
        <p:xfrm>
          <a:off x="4027805" y="7667625"/>
          <a:ext cx="2789555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555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  <a:endParaRPr lang="en-US"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737360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</a:pP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 fontAlgn="auto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 triển chấm công bằng </a:t>
                      </a:r>
                      <a:r>
                        <a:rPr lang="vi-VN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vân tay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 fontAlgn="auto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Hỗ trợ chấm công trên thiết bị di 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ộng, làm việc từ xa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 fontAlgn="auto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 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ộng hóa tính l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ơng và bổ sung các báo cáo thống kê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 fontAlgn="auto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ă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c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ờng bảo mật và cải thiện trải nghiệm ng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ời dùng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3963123" y="9643375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  <a:endParaRPr lang="en-US" sz="750" dirty="0">
              <a:latin typeface="Arial" panose="020B0604020202020204" pitchFamily="34" charset="0"/>
              <a:cs typeface="Arial Hebrew Scholar"/>
            </a:endParaRPr>
          </a:p>
        </p:txBody>
      </p:sp>
      <p:grpSp>
        <p:nvGrpSpPr>
          <p:cNvPr id="1024" name="Group 1023"/>
          <p:cNvGrpSpPr/>
          <p:nvPr/>
        </p:nvGrpSpPr>
        <p:grpSpPr>
          <a:xfrm>
            <a:off x="4578409" y="7273480"/>
            <a:ext cx="687076" cy="338555"/>
            <a:chOff x="6071533" y="2175434"/>
            <a:chExt cx="687076" cy="342566"/>
          </a:xfrm>
        </p:grpSpPr>
        <p:sp>
          <p:nvSpPr>
            <p:cNvPr id="1025" name="TextBox 1024"/>
            <p:cNvSpPr txBox="1"/>
            <p:nvPr/>
          </p:nvSpPr>
          <p:spPr>
            <a:xfrm>
              <a:off x="6109400" y="2175434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/>
          <p:cNvGrpSpPr/>
          <p:nvPr/>
        </p:nvGrpSpPr>
        <p:grpSpPr>
          <a:xfrm>
            <a:off x="5679061" y="6599441"/>
            <a:ext cx="725093" cy="1027194"/>
            <a:chOff x="5729861" y="6934721"/>
            <a:chExt cx="725093" cy="1027194"/>
          </a:xfrm>
        </p:grpSpPr>
        <p:pic>
          <p:nvPicPr>
            <p:cNvPr id="1029" name="Picture 10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/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/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9" name="Text Box 8"/>
          <p:cNvSpPr txBox="1"/>
          <p:nvPr/>
        </p:nvSpPr>
        <p:spPr>
          <a:xfrm>
            <a:off x="144780" y="2766060"/>
            <a:ext cx="3744595" cy="1724025"/>
          </a:xfrm>
          <a:prstGeom prst="rect">
            <a:avLst/>
          </a:prstGeom>
        </p:spPr>
        <p:txBody>
          <a:bodyPr>
            <a:noAutofit/>
          </a:bodyPr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Hệ thống được xây dựng để chấm công và tính lương cho một tổ chức. Các chức năng của hệ thống bao gồm: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vi-VN" sz="9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Quản lý thông tin nhân viên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Quản lý ca làm việc và lịch làm việc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Chấm công nhân viên (Face ID)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Ghi nhận thời gian vào – ra, ngày công và giờ công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Tổng hợp dữ liệu chấm công theo ngày, tháng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Quản lý tăng ca, nghỉ phép và đi muộn – về sớm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Tự động tính lương dựa trên dữ liệu chấm công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Quản lý phụ cấp, thưởng và các khoản khấu trừ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Lập bảng</a:t>
            </a:r>
            <a:r>
              <a:rPr lang="vi-VN" sz="900">
                <a:latin typeface="Arial" panose="020B0604020202020204" pitchFamily="34" charset="0"/>
                <a:cs typeface="Arial" panose="020B0604020202020204" pitchFamily="34" charset="0"/>
              </a:rPr>
              <a:t> chấm công,</a:t>
            </a: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 lương và xuất báo cáo lương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>
                <a:latin typeface="Arial" panose="020B0604020202020204" pitchFamily="34" charset="0"/>
                <a:cs typeface="Arial" panose="020B0604020202020204" pitchFamily="34" charset="0"/>
              </a:rPr>
              <a:t>Phân quyền người dùng và bảo mật dữ liệu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7095" y="1327785"/>
            <a:ext cx="634365" cy="6426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8350" y="6563995"/>
            <a:ext cx="687070" cy="695960"/>
          </a:xfrm>
          <a:prstGeom prst="rect">
            <a:avLst/>
          </a:prstGeom>
        </p:spPr>
      </p:pic>
      <p:pic>
        <p:nvPicPr>
          <p:cNvPr id="18" name="Picture 17" descr="Ảnh chụp màn hình 2026-01-13 1605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9400" y="2661285"/>
            <a:ext cx="2676525" cy="13741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6215" y="5455920"/>
            <a:ext cx="3693160" cy="18014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8595" y="4879340"/>
            <a:ext cx="3700780" cy="5676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6215" y="7291705"/>
            <a:ext cx="3670935" cy="15011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6215" y="8827135"/>
            <a:ext cx="3634740" cy="438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7960" y="9269730"/>
            <a:ext cx="3701415" cy="4622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06*169"/>
  <p:tag name="TABLE_ENDDRAG_RECT" val="5*185*306*169"/>
</p:tagLst>
</file>

<file path=ppt/tags/tag2.xml><?xml version="1.0" encoding="utf-8"?>
<p:tagLst xmlns:p="http://schemas.openxmlformats.org/presentationml/2006/main">
  <p:tag name="TABLE_ENDDRAG_ORIGIN_RECT" val="219*135"/>
  <p:tag name="TABLE_ENDDRAG_RECT" val="317*185*219*135"/>
</p:tagLst>
</file>

<file path=ppt/tags/tag3.xml><?xml version="1.0" encoding="utf-8"?>
<p:tagLst xmlns:p="http://schemas.openxmlformats.org/presentationml/2006/main">
  <p:tag name="TABLE_ENDDRAG_ORIGIN_RECT" val="219*156"/>
  <p:tag name="TABLE_ENDDRAG_RECT" val="317*328*219*156"/>
</p:tagLst>
</file>

<file path=ppt/tags/tag4.xml><?xml version="1.0" encoding="utf-8"?>
<p:tagLst xmlns:p="http://schemas.openxmlformats.org/presentationml/2006/main">
  <p:tag name="TABLE_ENDDRAG_ORIGIN_RECT" val="306*419"/>
  <p:tag name="TABLE_ENDDRAG_RECT" val="5*355*306*419"/>
</p:tagLst>
</file>

<file path=ppt/tags/tag5.xml><?xml version="1.0" encoding="utf-8"?>
<p:tagLst xmlns:p="http://schemas.openxmlformats.org/presentationml/2006/main">
  <p:tag name="TABLE_ENDDRAG_ORIGIN_RECT" val="219*112"/>
  <p:tag name="TABLE_ENDDRAG_RECT" val="317*488*219*112"/>
</p:tagLst>
</file>

<file path=ppt/tags/tag6.xml><?xml version="1.0" encoding="utf-8"?>
<p:tagLst xmlns:p="http://schemas.openxmlformats.org/presentationml/2006/main">
  <p:tag name="TABLE_ENDDRAG_ORIGIN_RECT" val="219*153"/>
  <p:tag name="TABLE_ENDDRAG_RECT" val="317*603*219*15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1052</Words>
  <Application>WPS Presentation</Application>
  <PresentationFormat>Khổ A4 (210x297 mm)</PresentationFormat>
  <Paragraphs>55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Hebrew Scholar</vt:lpstr>
      <vt:lpstr>Arial Hebrew Scholar</vt:lpstr>
      <vt:lpstr>Arial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phamvanduy</cp:lastModifiedBy>
  <cp:revision>100</cp:revision>
  <dcterms:created xsi:type="dcterms:W3CDTF">2023-07-02T07:57:00Z</dcterms:created>
  <dcterms:modified xsi:type="dcterms:W3CDTF">2026-01-27T17:08:25Z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2006C94A25994AB8BC6F5A756CBA5BFF_13</vt:lpwstr>
  </property>
  <property fmtid="{D5CDD505-2E9C-101B-9397-08002B2CF9AE}" pid="3" name="KSOProductBuildVer">
    <vt:lpwstr>1033-12.2.0.23196</vt:lpwstr>
  </property>
</Properties>
</file>